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the project name, course code, and Review 2 context. Emphasize that this is an IoT edge system running entirely on Raspberry Pi hardware with zero cloud dependency. Mention the sub-200ms latency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three major problems with cloud-based biometric attendance, then contrast with the three IoT edge solutions. Emphasize zero cloud costs, data sovereignty, and offline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3-tier architecture: Mobile clients -&gt; Raspberry Pi Edge Gateway -&gt; Local embedded ML pipeline -&gt; Edge vector DB and geofence engine. Emphasize zero cloud dependency and local campus Wi-Fi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pipeline stage and explain model selection rationale. Emphasize that ALL models combined use less than 25MB - perfect for RPi edge deployment. Contrast MobileFaceNet (13.6MB) vs ResNet-50 (174MB) and why MobileFaceNet is the primary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5-point affine alignment as a critical preprocessing step. The DST_PTS canonical coordinates ensure consistent face geometry regardless of capture angle. Quality guards save CPU cycles by rejecting bad frames before running expensive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presentation attack defense layer. MiniFASNetV2 uses an expanded 2.7x crop to capture texture artifacts from digital displays (moire patterns) and printed photos. Achieves 99.12% accuracy on CASIA-SURF benchmark with only 0.43M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down the end-to-end latency budget for each pipeline stage. Total verification is ~139ms on Pi 5 and ~215ms on Pi 4. Highlight the low power draw (7.5W) and stable thermals (48-54C) with passive cooling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3-tier hierarchical geofencing system. Tier 1 uses the Jordan Curve Theorem (ray-casting PiP) to check if GPS coordinates fall inside any of the 103 campus building polygons from OpenStreetMap. Hardware GPS enforcement ensures IP-based spoofing is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5-step live demo workflow. Demonstrate the anti-spoofing defense by showing a photo on another phone. Show the admin telemetry dashboard with CPU temp and RAM metrics from the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Review 2 achievements and present the Review 3 roadmap. Invite questions from the evaluation panel. Key talking points: IoT edge architecture, sub-200ms latency, zero cloud dependency, and the upcoming 3D-printed kiosk hardware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Calibri"/>
              </a:defRPr>
            </a:pPr>
            <a:r>
              <a:t>23CCE381 / 23ECE381  |  Open Laboratory - I  |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  <a:latin typeface="Calibri"/>
              </a:defRPr>
            </a:pPr>
            <a:r>
              <a:t>HYPERSPHERE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Decentralized IoT Edge Biometric Attendance</a:t>
            </a:r>
            <a:br/>
            <a:r>
              <a:t>&amp; Campus Geofencing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3657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TARGET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Raspberry Pi 4 / 5 (ARM64)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1148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CLIENT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Smartphones (BYOD)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148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4 Neural Networks &lt; 25 MB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4114800"/>
            <a:ext cx="256032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3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251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Calibri"/>
              </a:defRPr>
            </a:pPr>
            <a:r>
              <a:t>&lt; 200ms 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NIT Trichy (CDI)  &amp; 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02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Why Edge IoT Beats Cloud-Based Biometrics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CLOUD-BASED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High Network Latency: Uploading hi-res face images to cloud</a:t>
            </a:r>
            <a:br/>
            <a:r>
              <a:t>creates &gt;1.5s delays and consumes institutional bandwidth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Privacy &amp; Compliance Violations: Storing biometric templates</a:t>
            </a:r>
            <a:br/>
            <a:r>
              <a:t>on 3rd-party cloud infrastructure risks data leakage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Single Point of Network Failure: Internet disruption halts</a:t>
            </a:r>
            <a:br/>
            <a:r>
              <a:t>the entire campus attendance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HYPERSPHERE IoT EDGE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Edge Computing Gateway: Complete ML inference and vector</a:t>
            </a:r>
            <a:br/>
            <a:r>
              <a:t>matching execute locally on Raspberry Pi 4/5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Zero-Cloud Architecture: Works offline over local campus</a:t>
            </a:r>
            <a:br/>
            <a:r>
              <a:t>Wi-Fi or LAN - no internet dependency</a:t>
            </a:r>
          </a:p>
          <a:p>
            <a:pPr>
              <a:spcAft>
                <a:spcPts val="6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BYOD Interaction: Faculty/students use personal phones to</a:t>
            </a:r>
            <a:br/>
            <a:r>
              <a:t>mark attendance - no touchpoints or queue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03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End-to-End IoT Edge System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0040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MOBILE SMARTPHONES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Mobile Web Browser (PWA)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Client-side MediaPipe Vision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Hardware GPS Fix for Geofence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Camera Capture &amp; Blink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017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  Local Campus</a:t>
            </a:r>
            <a:br/>
            <a:r>
              <a:t>    Wi-Fi / REST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3474720"/>
            <a:ext cx="118872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1463040"/>
            <a:ext cx="3474720" cy="18288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RASPBERRY PI 4/5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Next.js 15 (Edge UI Server)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FastAPI (Async Python ASGI)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Low-Power: 5V / ~7.5W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566160"/>
            <a:ext cx="3474720" cy="20116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EMBEDDED ML PIPELINE (ARM64)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1. SCRFD-2.5G ONNX (Detection)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2. Quality Gating &amp; Affine Align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3. MiniFASNetV2 Anti-Spoofing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4. ArcFace MobileFaceNet (Embed)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828800"/>
            <a:ext cx="2377440" cy="3200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EDGE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SQLite + In-Memory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pgvector HNSW Index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Ray-Casting PiP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103 Building Polygons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Geofence Engine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06840" y="3017520"/>
            <a:ext cx="27432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04  |  EMBEDDED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Lightweight Model Selection for ARM64 Edge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371600"/>
                <a:gridCol w="1371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ARM64 Acceleration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1. Face Detection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SCRFD-2.5G (ONNX)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0.67M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3.2 MB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ONNX ARM NEON SIMD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2. Alignment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5-Point Partial Affine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Analytical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&lt; 1 KB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OpenCV ARM Optimized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3. Anti-Spoofing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MiniFASNetV2 (PyTorch)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0.43M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1.8 MB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PyTorch CPU (Quantized)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4. Feature Extractor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ArcFace MobileFaceNet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1.2M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13.6 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ONNX Runtime INT8/FP32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5. High-Res Alt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ArcFace ResNet-50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43.6M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174 MB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FP32 (High precision)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54880"/>
            <a:ext cx="7315200" cy="109728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Total memory footprint: &lt; 25 MB for ALL neural network weights combined!</a:t>
            </a:r>
            <a:br/>
            <a:r>
              <a:t>Fits easily into Raspberry Pi's 4GB/8GB RAM with &gt;90% headroom.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05  |  MATHEMATICAL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Quality Gating &amp; 5-Point Affine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5-POINT AFFINE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Extracts 5 facial anchors: Left Eye, Right Eye,</a:t>
            </a:r>
            <a:br/>
            <a:r>
              <a:t>Nose Tip, Left Mouth, Right Mouth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Maps to ArcFace canonical coordinates DST_PTS:</a:t>
            </a:r>
            <a:br/>
            <a:r>
              <a:t>[30.29, 51.70], [65.53, 51.50], [48.03, 71.74],</a:t>
            </a:r>
            <a:br/>
            <a:r>
              <a:t>[33.55, 92.37], [62.73, 92.20]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Eliminates roll angle &amp; perspective distortion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Yields aligned 112x112 crop for embedding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EDGE QUALITY 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Laplacian Focus Blur:</a:t>
            </a:r>
            <a:br/>
            <a:r>
              <a:t>Var(Laplacian) &gt;= 50.0</a:t>
            </a:r>
            <a:br/>
            <a:r>
              <a:t>Rejects blurred captures from moving phones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Luminance Bounds:</a:t>
            </a:r>
            <a:br/>
            <a:r>
              <a:t>mean_gray in [40.0, 220.0]</a:t>
            </a:r>
            <a:br/>
            <a:r>
              <a:t>Prevents underlit or overexposed frames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3D Head Pose (solvePnP):</a:t>
            </a:r>
            <a:br/>
            <a:r>
              <a:t>|yaw| &lt; 30 deg, |pitch| &lt; 25 deg</a:t>
            </a:r>
            <a:br/>
            <a:r>
              <a:t>Rejects extreme angles for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06  |  PRESENTATION ATTACK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MiniFASNetV2 Anti-Spoofing on Edge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029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THE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Attackers holding up printed photos or replaying face</a:t>
            </a:r>
            <a:br/>
            <a:r>
              <a:t>videos on smartphone screens to spoof biometric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1051560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MINIFASNETV2 DEFENSE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Evaluates 2.7x expanded crop (80x80 RGB) to capture</a:t>
            </a:r>
            <a:br/>
            <a:r>
              <a:t>peripheral depth gradients &amp; moire patterns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Generates softmax liveness probability:</a:t>
            </a:r>
            <a:br/>
            <a:r>
              <a:t>P(Live Face) &gt;= 0.40 threshold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Rejects screen replays &amp; printed photos in &lt; 40ms</a:t>
            </a:r>
            <a:br/>
            <a:r>
              <a:t>on ARM Cortex-A72/A76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023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99.12%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023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0.88%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023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&lt; 40ms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023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0.43M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Parameters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07  | 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Raspberry Pi Latency Budget, Thermal &amp; Power Profile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6492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Cumulative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Phone Image Capture &amp; Tx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20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20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SCRFD Face Detection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42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62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Quality &amp; Affine Alignment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5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67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MiniFASNetV2 Liveness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38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105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ArcFace MobileFaceNet Embed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32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137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Vector Similarity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1F5F9"/>
                          </a:solidFill>
                          <a:latin typeface="Calibri"/>
                        </a:defRPr>
                      </a:pPr>
                      <a:r>
                        <a:t>139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55448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RPi 5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~139ms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554480"/>
            <a:ext cx="2011680" cy="1645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RPi 4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~215ms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474720"/>
            <a:ext cx="429768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611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HARDWARE POWER &amp; THERMALS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233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Power Draw: 5V, 1.5A = ~7.5W</a:t>
            </a:r>
            <a:br/>
            <a:r>
              <a:t>under full inference workload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Thermal Equilibrium: 48-54 C</a:t>
            </a:r>
            <a:br/>
            <a:r>
              <a:t>with passive aluminum heatsink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No active cooling required for</a:t>
            </a:r>
            <a:br/>
            <a:r>
              <a:t>sustained inference operation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08  |  CAMPUS GEOFENCING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Hierarchical GPS Geofencing &amp; Location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29184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TIER 1: INSIDE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Ray-Casting Point-in-Polygon (PiP)</a:t>
            </a:r>
            <a:br/>
            <a:r>
              <a:t>checks GPS against 103 OSM building</a:t>
            </a:r>
            <a:br/>
            <a:r>
              <a:t>polygons in &lt; 1ms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45920"/>
            <a:ext cx="329184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TIER 2: CAMPUS GROUNDS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Verifies user is within the outer</a:t>
            </a:r>
            <a:br/>
            <a:r>
              <a:t>campus perimeter boundary polygon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29184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TIER 3: OFF CAMPUS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Rejects or flags attendance record</a:t>
            </a:r>
            <a:br/>
            <a:r>
              <a:t>for manual administrator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105156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HARDWARE GPS ENFORCEMENT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Rejects IP-based location fixes (accuracy radius &gt; 100m).</a:t>
            </a:r>
            <a:br/>
            <a:r>
              <a:t>Requires true mobile device hardware GNSS/GPS fixes for secure geoverification.</a:t>
            </a:r>
            <a:br/>
            <a:r>
              <a:t>Jordan Curve Theorem (Ray-Casting PiP) evaluates 103 polygons in &lt; 1.2ms on 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09  |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Proof-of-Concept Demonstration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8288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MOBILE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 http://&lt;edge-ip&gt;:3000</a:t>
            </a:r>
            <a:br/>
            <a:r>
              <a:t>from phone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01168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18288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ROLE-BASED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Login as faculty (hodece)</a:t>
            </a:r>
            <a:br/>
            <a:r>
              <a:t>or admin (director, kv)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645920"/>
            <a:ext cx="201168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0" y="18288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FACE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captures face</a:t>
            </a:r>
            <a:br/>
            <a:r>
              <a:t>Blink detected as liveness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1645920"/>
            <a:ext cx="201168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18288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EDGE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 processes: Detection,</a:t>
            </a:r>
            <a:br/>
            <a:r>
              <a:t>Anti-Spoof, Embedding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45920"/>
            <a:ext cx="2011680" cy="25603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18288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1F5F9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8346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Attendance confirmed with</a:t>
            </a:r>
            <a:br/>
            <a:r>
              <a:t>building name in &lt; 200ms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50292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LIVE ANTI-SPOOFING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Displaying a face photo on another phone triggers instant</a:t>
            </a:r>
            <a:br/>
            <a:r>
              <a:t>rejection: "Spoof detected: Liveness score 0.12"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572000"/>
            <a:ext cx="548640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709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ADMIN EDGE 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0292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Shows CPU temperature, RAM usage (only 280MB used),</a:t>
            </a:r>
            <a:br/>
            <a:r>
              <a:t>multi-embedding drift logs, and real-time inference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10  | 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Review 2 Milestones &amp; Review 3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3657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REVIEW 2 MILESTONES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Complete IoT edge architecture designed</a:t>
            </a:r>
            <a:br/>
            <a:r>
              <a:t>and validated on Raspberry Pi hardware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Multi-stage embedded ML pipeline optimized</a:t>
            </a:r>
            <a:br/>
            <a:r>
              <a:t>for ARM64 with sub-200ms turnaround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Working proof-of-concept running with</a:t>
            </a:r>
            <a:br/>
            <a:r>
              <a:t>mobile phone interaction over local Wi-Fi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4 neural networks totaling &lt; 25MB memory</a:t>
            </a:r>
            <a:br/>
            <a:r>
              <a:t>footprint with 99.12% anti-spoof accuracy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103 campus building geofence polygons</a:t>
            </a:r>
            <a:br/>
            <a:r>
              <a:t>with &lt; 1.2ms PiP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3657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REVIEW 3 TARGET (OCTOBER 22,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Custom 3D-printed Raspberry Pi kiosk</a:t>
            </a:r>
            <a:br/>
            <a:r>
              <a:t>enclosure with OLED status display &amp; buzzer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Offline sync buffer with MQTT telemetry</a:t>
            </a:r>
            <a:br/>
            <a:r>
              <a:t>for multi-device mesh communication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Academic poster presentation layout</a:t>
            </a:r>
            <a:br/>
            <a:r>
              <a:t>and final viva defense preparation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Extended evaluation with 50+ concurrent</a:t>
            </a:r>
            <a:br/>
            <a:r>
              <a:t>users on campus for stress testing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INT8 quantized model optimization</a:t>
            </a:r>
            <a:br/>
            <a:r>
              <a:t>for further latency reduction on Pi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94415" cy="731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